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DD4CC"/>
                </a:solidFill>
                <a:latin typeface="Calibri"/>
              </a:rPr>
              <a:t>HEALTHATHON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OncoFollow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FE7E6"/>
                </a:solidFill>
                <a:latin typeface="Calibri"/>
              </a:rPr>
              <a:t>Proactive follow-up for cancer patients - built so no one</a:t>
            </a:r>
          </a:p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FE7E6"/>
                </a:solidFill>
                <a:latin typeface="Calibri"/>
              </a:rPr>
              <a:t>slips through the cracks after treatment 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2011680" cy="41148"/>
          </a:xfrm>
          <a:prstGeom prst="rect">
            <a:avLst/>
          </a:prstGeom>
          <a:solidFill>
            <a:srgbClr val="E8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Venkatesh R   ·   Naveen Krishnaa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FC7C7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healthathon.reskilll.com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7D82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B33"/>
                </a:solidFill>
                <a:latin typeface="Calibri"/>
              </a:rPr>
              <a:t>Cancer follow-up depends on memory, not 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6035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C2B33"/>
                </a:solidFill>
                <a:latin typeface="Calibri"/>
              </a:rPr>
              <a:t>Cancer care doesn't end at treatment. Survivors need structured, long-term follow-up for years - recurrence surveillance, side-effect monitoring, treatment adherence - because early recurrence detection is one of the strongest predictors of survival.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6035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550">
                <a:solidFill>
                  <a:srgbClr val="147D82"/>
                </a:solidFill>
                <a:latin typeface="Calibri"/>
              </a:rPr>
              <a:t>●  </a:t>
            </a:r>
            <a:r>
              <a:rPr sz="1550">
                <a:solidFill>
                  <a:srgbClr val="1C2B33"/>
                </a:solidFill>
                <a:latin typeface="Calibri"/>
              </a:rPr>
              <a:t>Oncologists managing hundreds of patients track follow-ups by memory, spreadsheets, or calendar reminders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550">
                <a:solidFill>
                  <a:srgbClr val="147D82"/>
                </a:solidFill>
                <a:latin typeface="Calibri"/>
              </a:rPr>
              <a:t>●  </a:t>
            </a:r>
            <a:r>
              <a:rPr sz="1550">
                <a:solidFill>
                  <a:srgbClr val="1C2B33"/>
                </a:solidFill>
                <a:latin typeface="Calibri"/>
              </a:rPr>
              <a:t>Follow-ups slip through the cracks silently - there is no alert when a patient simply doesn't come back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550">
                <a:solidFill>
                  <a:srgbClr val="147D82"/>
                </a:solidFill>
                <a:latin typeface="Calibri"/>
              </a:rPr>
              <a:t>●  </a:t>
            </a:r>
            <a:r>
              <a:rPr sz="1550">
                <a:solidFill>
                  <a:srgbClr val="1C2B33"/>
                </a:solidFill>
                <a:latin typeface="Calibri"/>
              </a:rPr>
              <a:t>When a patient does return, doctors must reconstruct a complex treatment history from scattered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1691640"/>
            <a:ext cx="4434840" cy="4480560"/>
          </a:xfrm>
          <a:prstGeom prst="rect">
            <a:avLst/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7D82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4231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C2B33"/>
                </a:solidFill>
                <a:latin typeface="Calibri"/>
              </a:rPr>
              <a:t>Cancer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834640"/>
            <a:ext cx="3840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B33"/>
                </a:solidFill>
                <a:latin typeface="Calibri"/>
              </a:rPr>
              <a:t>Survival odds depend directly on timely surveillance - a missed window can mean a recurrence caught too 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977639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C2B33"/>
                </a:solidFill>
                <a:latin typeface="Calibri"/>
              </a:rPr>
              <a:t>Oncologists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438912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B33"/>
                </a:solidFill>
                <a:latin typeface="Calibri"/>
              </a:rPr>
              <a:t>Already stretched by one of the most severely understaffed oncology systems in the world - there's no time to manually track every patient.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OncoFollow  ·  Healthathon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7D82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B33"/>
                </a:solidFill>
                <a:latin typeface="Calibri"/>
              </a:rPr>
              <a:t>OncoFollow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5A6B72"/>
                </a:solidFill>
                <a:latin typeface="Calibri"/>
              </a:rPr>
              <a:t>Proactively identifies cancer patients who are due or overdue for follow-up, prioritises by clinical urgency, and automatically reaches out - grounded in the doctor's own notes, not a generic message.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0604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880360"/>
            <a:ext cx="640080" cy="640080"/>
          </a:xfrm>
          <a:prstGeom prst="ellipse">
            <a:avLst/>
          </a:prstGeom>
          <a:solidFill>
            <a:srgbClr val="147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C2B33"/>
                </a:solidFill>
                <a:latin typeface="Calibri"/>
              </a:rPr>
              <a:t>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A6B72"/>
                </a:solidFill>
                <a:latin typeface="Calibri"/>
              </a:rPr>
              <a:t>Reads each patient's treatment record and cancer-specific follow-up schedule to determine what's due.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0604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2880360"/>
            <a:ext cx="640080" cy="640080"/>
          </a:xfrm>
          <a:prstGeom prst="ellipse">
            <a:avLst/>
          </a:prstGeom>
          <a:solidFill>
            <a:srgbClr val="147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C2B33"/>
                </a:solidFill>
                <a:latin typeface="Calibri"/>
              </a:rPr>
              <a:t>Prioritise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160520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A6B72"/>
                </a:solidFill>
                <a:latin typeface="Calibri"/>
              </a:rPr>
              <a:t>Ranks overdue patients by clinical urgency - not just by how many days have passed.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260604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880360"/>
            <a:ext cx="640080" cy="640080"/>
          </a:xfrm>
          <a:prstGeom prst="ellipse">
            <a:avLst/>
          </a:prstGeom>
          <a:solidFill>
            <a:srgbClr val="147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576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C2B33"/>
                </a:solidFill>
                <a:latin typeface="Calibri"/>
              </a:rPr>
              <a:t>Reach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60520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A6B72"/>
                </a:solidFill>
                <a:latin typeface="Calibri"/>
              </a:rPr>
              <a:t>Sends a personalised reminder, drafted from the doctor's own short notes on that patient.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OncoFollow  ·  Healthathon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7D82"/>
                </a:solidFill>
                <a:latin typeface="Calibri"/>
              </a:rPr>
              <a:t>BUILT AROUND THE DOCTOR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B33"/>
                </a:solidFill>
                <a:latin typeface="Calibri"/>
              </a:rPr>
              <a:t>A short note, not a full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126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C2B33"/>
                </a:solidFill>
                <a:latin typeface="Calibri"/>
              </a:rPr>
              <a:t>After every visit, the doctor leaves one short note. That's the entire context OncoFollow needs to draft a personalised, relevant reminder - and the same note lets the doctor recall a patient's status in seconds before the next call, instead of digging through a full record.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1737360"/>
            <a:ext cx="44348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9659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7D82"/>
                </a:solidFill>
                <a:latin typeface="Calibri"/>
              </a:rPr>
              <a:t>EXAMPLE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23160"/>
            <a:ext cx="3840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C2B33"/>
                </a:solidFill>
                <a:latin typeface="Calibri"/>
              </a:rPr>
              <a:t>"6-month post-op check: no recurrence signs, patient reports mild fatigue, continuing follow-up imaging schedule as planned."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3794760"/>
            <a:ext cx="3794760" cy="18288"/>
          </a:xfrm>
          <a:prstGeom prst="rect">
            <a:avLst/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3977639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5D42"/>
                </a:solidFill>
                <a:latin typeface="Calibri"/>
              </a:rPr>
              <a:t>GENERATED REMINDER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434840"/>
            <a:ext cx="3840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C2B33"/>
                </a:solidFill>
                <a:latin typeface="Calibri"/>
              </a:rPr>
              <a:t>"Hi - it's time for your 6-month follow-up. Your last check showed no signs of recurrence, which is great. Let's get your next scan scheduled."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OncoFollow  ·  Healthathon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DD4CC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From a doctor's note to a patient's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7520"/>
            <a:ext cx="2331720" cy="1371600"/>
          </a:xfrm>
          <a:prstGeom prst="rect">
            <a:avLst/>
          </a:prstGeom>
          <a:solidFill>
            <a:srgbClr val="143B44"/>
          </a:solidFill>
          <a:ln w="19050">
            <a:solidFill>
              <a:srgbClr val="147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337560"/>
            <a:ext cx="211226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Doctor's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short note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63824" y="3566160"/>
            <a:ext cx="393192" cy="274320"/>
          </a:xfrm>
          <a:prstGeom prst="rightArrow">
            <a:avLst/>
          </a:prstGeom>
          <a:solidFill>
            <a:srgbClr val="6F9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79" y="3017520"/>
            <a:ext cx="2331720" cy="1371600"/>
          </a:xfrm>
          <a:prstGeom prst="rect">
            <a:avLst/>
          </a:prstGeom>
          <a:solidFill>
            <a:srgbClr val="143B44"/>
          </a:solidFill>
          <a:ln w="19050">
            <a:solidFill>
              <a:srgbClr val="147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7" y="3337560"/>
            <a:ext cx="211226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AI Agent reads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patient notes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98464" y="3566160"/>
            <a:ext cx="393192" cy="274320"/>
          </a:xfrm>
          <a:prstGeom prst="rightArrow">
            <a:avLst/>
          </a:prstGeom>
          <a:solidFill>
            <a:srgbClr val="6F9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19" y="3017520"/>
            <a:ext cx="2331720" cy="1371600"/>
          </a:xfrm>
          <a:prstGeom prst="rect">
            <a:avLst/>
          </a:prstGeom>
          <a:solidFill>
            <a:srgbClr val="143B44"/>
          </a:solidFill>
          <a:ln w="19050">
            <a:solidFill>
              <a:srgbClr val="E85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7" y="3337560"/>
            <a:ext cx="211226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Cedar checks: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is this allowed?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33103" y="3566160"/>
            <a:ext cx="393192" cy="274320"/>
          </a:xfrm>
          <a:prstGeom prst="rightArrow">
            <a:avLst/>
          </a:prstGeom>
          <a:solidFill>
            <a:srgbClr val="6F9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59" y="3017520"/>
            <a:ext cx="2331720" cy="1371600"/>
          </a:xfrm>
          <a:prstGeom prst="rect">
            <a:avLst/>
          </a:prstGeom>
          <a:solidFill>
            <a:srgbClr val="143B44"/>
          </a:solidFill>
          <a:ln w="19050">
            <a:solidFill>
              <a:srgbClr val="147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7" y="3337560"/>
            <a:ext cx="211226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Personalised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reminder 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B9D6D3"/>
                </a:solidFill>
                <a:latin typeface="Calibri"/>
              </a:rPr>
              <a:t>Every arrow above is a real, checked decision - the agent only reads notes and sends a follow-up-kind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B9D6D3"/>
                </a:solidFill>
                <a:latin typeface="Calibri"/>
              </a:rPr>
              <a:t>message because Cedar's policy allows exactly that, and nothing else, on every single 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OncoFollow  ·  Healthathon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7D82"/>
                </a:solidFill>
                <a:latin typeface="Calibri"/>
              </a:rPr>
              <a:t>HOW WE'LL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B33"/>
                </a:solidFill>
                <a:latin typeface="Calibri"/>
              </a:rPr>
              <a:t>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" cy="1325880"/>
          </a:xfrm>
          <a:prstGeom prst="rect">
            <a:avLst/>
          </a:prstGeom>
          <a:solidFill>
            <a:srgbClr val="147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B33"/>
                </a:solidFill>
                <a:latin typeface="Calibri"/>
              </a:rPr>
              <a:t>Strands Agents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B72"/>
                </a:solidFill>
                <a:latin typeface="Calibri"/>
              </a:rPr>
              <a:t>Open-source agent framework - reads patient notes and drafts each follow-up message.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83080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73152" cy="1325880"/>
          </a:xfrm>
          <a:prstGeom prst="rect">
            <a:avLst/>
          </a:prstGeom>
          <a:solidFill>
            <a:srgbClr val="147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92024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B33"/>
                </a:solidFill>
                <a:latin typeface="Calibri"/>
              </a:rPr>
              <a:t>Cedar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31343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B72"/>
                </a:solidFill>
                <a:latin typeface="Calibri"/>
              </a:rPr>
              <a:t>Policy-based authorization. The agent may only read notes and send a reminder - enforced on every action, not assumed.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39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91839"/>
            <a:ext cx="73152" cy="1325880"/>
          </a:xfrm>
          <a:prstGeom prst="rect">
            <a:avLst/>
          </a:prstGeom>
          <a:solidFill>
            <a:srgbClr val="147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8999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B33"/>
                </a:solidFill>
                <a:latin typeface="Calibri"/>
              </a:rPr>
              <a:t>NoSQL store + OpenSearch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1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B72"/>
                </a:solidFill>
                <a:latin typeface="Calibri"/>
              </a:rPr>
              <a:t>Patient, note, and follow-up records; fast note search so a doctor can recall a patient's status in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91839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291839"/>
            <a:ext cx="73152" cy="1325880"/>
          </a:xfrm>
          <a:prstGeom prst="rect">
            <a:avLst/>
          </a:prstGeom>
          <a:solidFill>
            <a:srgbClr val="147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428999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B33"/>
                </a:solidFill>
                <a:latin typeface="Calibri"/>
              </a:rPr>
              <a:t>Scheduling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822191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B72"/>
                </a:solidFill>
                <a:latin typeface="Calibri"/>
              </a:rPr>
              <a:t>Tracks each patient's due date and triggers outreach automatically when it arrives.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00600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73152" cy="1325880"/>
          </a:xfrm>
          <a:prstGeom prst="rect">
            <a:avLst/>
          </a:prstGeom>
          <a:solidFill>
            <a:srgbClr val="147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B33"/>
                </a:solidFill>
                <a:latin typeface="Calibri"/>
              </a:rPr>
              <a:t>SMS / WhatsApp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3095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B72"/>
                </a:solidFill>
                <a:latin typeface="Calibri"/>
              </a:rPr>
              <a:t>Delivery channel for the personalised reminder - reaching patients where they already are.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00600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800600"/>
            <a:ext cx="73152" cy="1325880"/>
          </a:xfrm>
          <a:prstGeom prst="rect">
            <a:avLst/>
          </a:prstGeom>
          <a:solidFill>
            <a:srgbClr val="147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493776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B33"/>
                </a:solidFill>
                <a:latin typeface="Calibri"/>
              </a:rPr>
              <a:t>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533095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B72"/>
                </a:solidFill>
                <a:latin typeface="Calibri"/>
              </a:rPr>
              <a:t>Backend services tying the pipeline together.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OncoFollow  ·  Healthathon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7D82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B33"/>
                </a:solidFill>
                <a:latin typeface="Calibri"/>
              </a:rPr>
              <a:t>Who's building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nkatesh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2286000"/>
            <a:ext cx="1828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251960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C2B33"/>
                </a:solidFill>
                <a:latin typeface="Calibri"/>
              </a:rPr>
              <a:t>Venkatesh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4434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5A6B72"/>
                </a:solidFill>
                <a:latin typeface="Calibri"/>
              </a:rPr>
              <a:t>Transformers &amp; LLM serving, RLHF / alignment, ZK-SNARKs, distributed inference. Architected Laminaa's chain-agnostic agent across 10 networks. 8+ hackathon wins, ₹30L+ in prizes.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aveen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859" y="2286000"/>
            <a:ext cx="18288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59" y="4251960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C2B33"/>
                </a:solidFill>
                <a:latin typeface="Calibri"/>
              </a:rPr>
              <a:t>Naveen Krishnaa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754880"/>
            <a:ext cx="4434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5A6B72"/>
                </a:solidFill>
                <a:latin typeface="Calibri"/>
              </a:rPr>
              <a:t>Production data engineering - ETL, Kafka, Airflow, Elasticsearch - with RAG / GenAI and cloud (Azure, GCP). B.Tech AI &amp; ML, CGPA 9.04. HimaShield GLOF system, awarded ₹5L by MeitY.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OncoFollow  ·  Healthathon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B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DD4CC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From reactive care to proactive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700">
                <a:solidFill>
                  <a:srgbClr val="E85D42"/>
                </a:solidFill>
                <a:latin typeface="Calibri"/>
              </a:rPr>
              <a:t>●  </a:t>
            </a:r>
            <a:r>
              <a:rPr sz="1700">
                <a:solidFill>
                  <a:srgbClr val="CFE7E6"/>
                </a:solidFill>
                <a:latin typeface="Calibri"/>
              </a:rPr>
              <a:t>Follow-up windows and risk scoring tuned per cancer type and treatment stage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700">
                <a:solidFill>
                  <a:srgbClr val="E85D42"/>
                </a:solidFill>
                <a:latin typeface="Calibri"/>
              </a:rPr>
              <a:t>●  </a:t>
            </a:r>
            <a:r>
              <a:rPr sz="1700">
                <a:solidFill>
                  <a:srgbClr val="CFE7E6"/>
                </a:solidFill>
                <a:latin typeface="Calibri"/>
              </a:rPr>
              <a:t>Care-team roles beyond the treating doctor, with Cedar extended cleanly to each one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700">
                <a:solidFill>
                  <a:srgbClr val="E85D42"/>
                </a:solidFill>
                <a:latin typeface="Calibri"/>
              </a:rPr>
              <a:t>●  </a:t>
            </a:r>
            <a:r>
              <a:rPr sz="1700">
                <a:solidFill>
                  <a:srgbClr val="CFE7E6"/>
                </a:solidFill>
                <a:latin typeface="Calibri"/>
              </a:rPr>
              <a:t>Two-way outreach - a patient can reply, not just receive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OncoFollow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FC7C7"/>
                </a:solidFill>
                <a:latin typeface="Calibri"/>
              </a:rPr>
              <a:t>Venkatesh R  ·  Naveen Krishnaa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